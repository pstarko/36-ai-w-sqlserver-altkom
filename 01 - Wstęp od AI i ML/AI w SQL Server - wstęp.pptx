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2" y="7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custSel addSld delSld modSld sldOrd">
      <pc:chgData name="Przemyslaw Starosta" userId="45f988447864b3e6" providerId="LiveId" clId="{F03EAEFD-908B-4458-9CFE-E641CAF539F5}" dt="2026-10-26T07:51:47.971" v="616" actId="478"/>
      <pc:docMkLst>
        <pc:docMk/>
      </pc:docMkLst>
      <pc:sldChg chg="delSp mod">
        <pc:chgData name="Przemyslaw Starosta" userId="45f988447864b3e6" providerId="LiveId" clId="{F03EAEFD-908B-4458-9CFE-E641CAF539F5}" dt="2026-10-26T07:51:47.971" v="616" actId="478"/>
        <pc:sldMkLst>
          <pc:docMk/>
          <pc:sldMk cId="4190797328" sldId="269"/>
        </pc:sldMkLst>
        <pc:spChg chg="del">
          <ac:chgData name="Przemyslaw Starosta" userId="45f988447864b3e6" providerId="LiveId" clId="{F03EAEFD-908B-4458-9CFE-E641CAF539F5}" dt="2026-10-26T07:51:47.971" v="616" actId="478"/>
          <ac:spMkLst>
            <pc:docMk/>
            <pc:sldMk cId="4190797328" sldId="269"/>
            <ac:spMk id="6" creationId="{608CFE3E-0F3A-0A59-2FF5-9A26493E7E2F}"/>
          </ac:spMkLst>
        </pc:spChg>
      </pc:sldChg>
      <pc:sldChg chg="modSp mod">
        <pc:chgData name="Przemyslaw Starosta" userId="45f988447864b3e6" providerId="LiveId" clId="{F03EAEFD-908B-4458-9CFE-E641CAF539F5}" dt="2026-10-23T15:16:05.559" v="615" actId="20577"/>
        <pc:sldMkLst>
          <pc:docMk/>
          <pc:sldMk cId="4145374342" sldId="274"/>
        </pc:sldMkLst>
        <pc:spChg chg="mod">
          <ac:chgData name="Przemyslaw Starosta" userId="45f988447864b3e6" providerId="LiveId" clId="{F03EAEFD-908B-4458-9CFE-E641CAF539F5}" dt="2026-10-23T15:16:05.559" v="615" actId="20577"/>
          <ac:spMkLst>
            <pc:docMk/>
            <pc:sldMk cId="4145374342" sldId="274"/>
            <ac:spMk id="4" creationId="{83C6A299-6ACF-D018-4916-4AC7B85D4C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2C04C6-72B9-4B2D-832F-6C1420567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AI w SQL Server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7C6B3B6-AFB0-45AE-8BA8-96E9298EE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Wstęp</a:t>
            </a:r>
          </a:p>
        </p:txBody>
      </p:sp>
    </p:spTree>
    <p:extLst>
      <p:ext uri="{BB962C8B-B14F-4D97-AF65-F5344CB8AC3E}">
        <p14:creationId xmlns:p14="http://schemas.microsoft.com/office/powerpoint/2010/main" val="262949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AI</a:t>
            </a:r>
            <a:br>
              <a:rPr lang="pl-PL" dirty="0"/>
            </a:br>
            <a:r>
              <a:rPr lang="pl-PL" dirty="0"/>
              <a:t>vs</a:t>
            </a:r>
            <a:br>
              <a:rPr lang="pl-PL" dirty="0"/>
            </a:br>
            <a:r>
              <a:rPr lang="pl-PL" dirty="0"/>
              <a:t>Uczenie Maszynowe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Sztuczna inteligencja (AI) i uczenie maszynowe (ML) </a:t>
            </a:r>
            <a:r>
              <a:rPr lang="pl-PL" dirty="0"/>
              <a:t>to dwa pojęcia często używane zamiennie, jednak w rzeczywistości opisują odmienne, choć powiązane obszary technologii informatycznych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7354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4782-4750-FB97-C555-27528E6C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F09F39-E071-0F76-C192-71B9F13D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AI</a:t>
            </a:r>
            <a:br>
              <a:rPr lang="pl-PL" dirty="0"/>
            </a:br>
            <a:r>
              <a:rPr lang="pl-PL" dirty="0"/>
              <a:t>vs</a:t>
            </a:r>
            <a:br>
              <a:rPr lang="pl-PL" dirty="0"/>
            </a:br>
            <a:r>
              <a:rPr lang="pl-PL" dirty="0"/>
              <a:t>Uczenie Maszynowe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C8801E6-848E-A9B6-DC98-8FAD84778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Sztuczna inteligencja – szeroki kontekst</a:t>
            </a:r>
          </a:p>
          <a:p>
            <a:pPr lvl="1"/>
            <a:r>
              <a:rPr lang="pl-PL" dirty="0"/>
              <a:t>to dziedzina informatyki zajmująca się tworzeniem systemów i algorytmów naśladujących ludzkie procesy poznawcze, takie jak rozumowanie, uczenie się, rozwiązywanie problemów czy przetwarzanie języka naturalnego. </a:t>
            </a:r>
          </a:p>
          <a:p>
            <a:pPr lvl="1"/>
            <a:r>
              <a:rPr lang="pl-PL" dirty="0"/>
              <a:t>Obejmuje wiele technologii: wizję komputerową, analizę języka, robotykę, a także właśnie uczenie maszynowe. </a:t>
            </a:r>
          </a:p>
          <a:p>
            <a:pPr lvl="1"/>
            <a:r>
              <a:rPr lang="pl-PL" dirty="0"/>
              <a:t>To pojęcie, w którym mieści się większość nowoczesnych rozwiązań automatyzujących i inteligentnie przetwarzających informacje czy podejmujących decyzje na podstawie danych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839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C1F5-FB0D-A2F0-D9C6-46FC4AFA5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7FD122-4518-8FD4-BC52-A7BF2A9F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AI</a:t>
            </a:r>
            <a:br>
              <a:rPr lang="pl-PL" dirty="0"/>
            </a:br>
            <a:r>
              <a:rPr lang="pl-PL" dirty="0"/>
              <a:t>vs</a:t>
            </a:r>
            <a:br>
              <a:rPr lang="pl-PL" dirty="0"/>
            </a:br>
            <a:r>
              <a:rPr lang="pl-PL" dirty="0"/>
              <a:t>Uczenie Maszynowe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442A87-D7BE-E8AC-CB07-267A9FADE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Uczenie maszynowe – techniczna realizacja</a:t>
            </a:r>
          </a:p>
          <a:p>
            <a:pPr lvl="1"/>
            <a:r>
              <a:rPr lang="pl-PL" dirty="0"/>
              <a:t>Uczenie maszynowe to poddziedzina AI, która koncentruje się na rozwijaniu algorytmów i modeli matematycznych umożliwiających komputerom uczenie się wzorców i zależności bez programowania ich „krok po kroku” przez człowieka. </a:t>
            </a:r>
          </a:p>
          <a:p>
            <a:pPr lvl="1"/>
            <a:r>
              <a:rPr lang="pl-PL" dirty="0"/>
              <a:t>Systemy uczą się na podstawie dostarczonych danych (np. obrazów czy tekstów), aby następnie automatycznie klasyfikować, przewidywać lub podejmować decyzje w nowych sytuacjach. </a:t>
            </a:r>
          </a:p>
          <a:p>
            <a:pPr lvl="1"/>
            <a:r>
              <a:rPr lang="pl-PL" dirty="0"/>
              <a:t>Podstawą ML są modele, które wraz z większą ilością uczących danych poprawiają swoją skuteczność i dokładność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8947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D6C1-9585-23A7-AAC2-E607C9B31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EF3A51-5529-0A06-345D-7CF4CEEB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AI</a:t>
            </a:r>
            <a:br>
              <a:rPr lang="pl-PL" dirty="0"/>
            </a:br>
            <a:r>
              <a:rPr lang="pl-PL" dirty="0"/>
              <a:t>vs</a:t>
            </a:r>
            <a:br>
              <a:rPr lang="pl-PL" dirty="0"/>
            </a:br>
            <a:r>
              <a:rPr lang="pl-PL" dirty="0"/>
              <a:t>Uczenie Maszynowe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EAE749-A1A2-AD53-6517-E45F30217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Współzależność i różnice</a:t>
            </a:r>
          </a:p>
          <a:p>
            <a:pPr lvl="1"/>
            <a:r>
              <a:rPr lang="pl-PL" dirty="0"/>
              <a:t>Sztuczna inteligencja jest pojęciem nadrzędnym – zawiera w sobie uczenie maszynowe oraz inne podejścia niebazujące na nauce ze zbiorów danych. </a:t>
            </a:r>
          </a:p>
          <a:p>
            <a:pPr lvl="1"/>
            <a:r>
              <a:rPr lang="pl-PL" dirty="0"/>
              <a:t>Uczenie maszynowe jest jednym z głównych sposobów realizacji AI, bazującym na analizie ogromnych zbiorów informacji przez algorytmy uczące się. </a:t>
            </a:r>
          </a:p>
          <a:p>
            <a:pPr lvl="1"/>
            <a:r>
              <a:rPr lang="pl-PL" dirty="0"/>
              <a:t>AI może także korzystać z metod opartych na regułach, które niekoniecznie wymagają uczenia na danych. </a:t>
            </a:r>
          </a:p>
          <a:p>
            <a:r>
              <a:rPr lang="pl-PL" dirty="0"/>
              <a:t>W uproszczeniu: </a:t>
            </a:r>
            <a:r>
              <a:rPr lang="pl-PL" b="1" dirty="0"/>
              <a:t>każda technologia ML jest AI, ale nie każda AI musi korzystać z ML</a:t>
            </a:r>
            <a:r>
              <a:rPr lang="pl-PL" dirty="0"/>
              <a:t>. </a:t>
            </a:r>
          </a:p>
          <a:p>
            <a:r>
              <a:rPr lang="pl-PL" dirty="0"/>
              <a:t>Sztuczna inteligencja to idea maszyny „myślącej jak człowiek”, natomiast uczenie maszynowe to praktyczna implementacja tej idei poprzez uczenie na danych i automatyczną optymalizację wyników.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3160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23AEC-F9BB-923D-C9C9-FDBD1B9E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96C2ED-6BD1-16F7-91F0-30025FF4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scenariusze biznesowe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3EE43A9-EA8E-E78A-CBE3-8BD84F17E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Prognozowanie sprzedaży i zapasów</a:t>
            </a:r>
          </a:p>
          <a:p>
            <a:pPr lvl="1"/>
            <a:r>
              <a:rPr lang="pl-PL" b="1" dirty="0"/>
              <a:t>Opis:</a:t>
            </a:r>
            <a:r>
              <a:rPr lang="pl-PL" dirty="0"/>
              <a:t> AI analizuje dane historyczne (transakcje, sezonowość, promocje) i przewiduje popyt.</a:t>
            </a:r>
          </a:p>
          <a:p>
            <a:pPr lvl="1"/>
            <a:r>
              <a:rPr lang="pl-PL" b="1" dirty="0"/>
              <a:t>Wartość:</a:t>
            </a:r>
            <a:r>
              <a:rPr lang="pl-PL" dirty="0"/>
              <a:t> lepsze planowanie zakupów, redukcja kosztów magazynowania, brak braków towaru.</a:t>
            </a:r>
          </a:p>
          <a:p>
            <a:pPr lvl="1"/>
            <a:r>
              <a:rPr lang="pl-PL" b="1" dirty="0"/>
              <a:t>Przykład:</a:t>
            </a:r>
            <a:r>
              <a:rPr lang="pl-PL" dirty="0"/>
              <a:t> model ML osadzony w SQL Server przewiduje, które produkty osiągną największy popyt w nadchodzącym tygodniu.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3010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6C768-9A84-BF86-2949-DE7E52EC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7BA2DE-4312-50C6-45AA-43B138EA1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scenariusze biznesowe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9451D1-7820-5127-1258-BAB4498F1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Segmentacja i personalizacja klientów</a:t>
            </a:r>
          </a:p>
          <a:p>
            <a:pPr lvl="1"/>
            <a:r>
              <a:rPr lang="pl-PL" b="1" dirty="0"/>
              <a:t>Opis:</a:t>
            </a:r>
            <a:r>
              <a:rPr lang="pl-PL" dirty="0"/>
              <a:t> algorytmy klasteryzacji tworzą segmenty klientów na podstawie zachowań i danych demograficznych.</a:t>
            </a:r>
          </a:p>
          <a:p>
            <a:pPr lvl="1"/>
            <a:r>
              <a:rPr lang="pl-PL" b="1" dirty="0"/>
              <a:t>Wartość:</a:t>
            </a:r>
            <a:r>
              <a:rPr lang="pl-PL" dirty="0"/>
              <a:t> trafniejsze kampanie marketingowe, indywidualne rekomendacje.</a:t>
            </a:r>
          </a:p>
          <a:p>
            <a:pPr lvl="1"/>
            <a:r>
              <a:rPr lang="pl-PL" b="1" dirty="0"/>
              <a:t>Przykład:</a:t>
            </a:r>
            <a:r>
              <a:rPr lang="pl-PL" dirty="0"/>
              <a:t> e-commerce – podział klientów na lojalnych, okazjonalnych i cenowych, a następnie </a:t>
            </a:r>
            <a:r>
              <a:rPr lang="pl-PL" dirty="0" err="1"/>
              <a:t>targetowanie</a:t>
            </a:r>
            <a:r>
              <a:rPr lang="pl-PL" dirty="0"/>
              <a:t> ofert.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65381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B0FB-279D-59CA-AF2F-E732F4BB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2F43BE-255A-D01B-E3FE-2780A1E3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scenariusze biznesowe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92EBB1C-E8C8-9894-1ECE-C0FB61E33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Inteligentne raportowanie i BI</a:t>
            </a:r>
          </a:p>
          <a:p>
            <a:pPr lvl="1"/>
            <a:r>
              <a:rPr lang="pl-PL" b="1" dirty="0"/>
              <a:t>Opis:</a:t>
            </a:r>
            <a:r>
              <a:rPr lang="pl-PL" dirty="0"/>
              <a:t> modele AI automatycznie wykrywają trendy i korelacje w danych składowanych w SQL Server.</a:t>
            </a:r>
          </a:p>
          <a:p>
            <a:pPr lvl="1"/>
            <a:r>
              <a:rPr lang="pl-PL" b="1" dirty="0"/>
              <a:t>Wartość:</a:t>
            </a:r>
            <a:r>
              <a:rPr lang="pl-PL" dirty="0"/>
              <a:t> odciążenie analityków, dostęp do "smart </a:t>
            </a:r>
            <a:r>
              <a:rPr lang="pl-PL" dirty="0" err="1"/>
              <a:t>insights</a:t>
            </a:r>
            <a:r>
              <a:rPr lang="pl-PL" dirty="0"/>
              <a:t>" dla menedżerów.</a:t>
            </a:r>
          </a:p>
          <a:p>
            <a:pPr lvl="1"/>
            <a:r>
              <a:rPr lang="pl-PL" b="1" dirty="0"/>
              <a:t>Przykład:</a:t>
            </a:r>
            <a:r>
              <a:rPr lang="pl-PL" dirty="0"/>
              <a:t> zamiast statycznego raportu sprzedaży – system podpowiada: </a:t>
            </a:r>
            <a:r>
              <a:rPr lang="pl-PL" i="1" dirty="0"/>
              <a:t>"Produkt X sprzedaje się lepiej w regionie Y, sugerowana kampania marketingowa w tym obszarze."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5387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FB47-2B34-1936-BB0F-ED4C84E48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E3C3CB-AFF5-C99D-4B68-BAADCBB8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scenariusze biznesowe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30B7F3-EDF3-EF20-9665-90DDF0944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Rekomendacje produktów lub usług</a:t>
            </a:r>
          </a:p>
          <a:p>
            <a:pPr lvl="1"/>
            <a:r>
              <a:rPr lang="pl-PL" b="1" dirty="0"/>
              <a:t>Opis:</a:t>
            </a:r>
            <a:r>
              <a:rPr lang="pl-PL" dirty="0"/>
              <a:t> AI analizuje historię zakupów klientów i generuje spersonalizowane rekomendacje.</a:t>
            </a:r>
          </a:p>
          <a:p>
            <a:pPr lvl="1"/>
            <a:r>
              <a:rPr lang="pl-PL" b="1" dirty="0"/>
              <a:t>Wartość:</a:t>
            </a:r>
            <a:r>
              <a:rPr lang="pl-PL" dirty="0"/>
              <a:t> wzrost sprzedaży, cross-</a:t>
            </a:r>
            <a:r>
              <a:rPr lang="pl-PL" dirty="0" err="1"/>
              <a:t>selling</a:t>
            </a:r>
            <a:r>
              <a:rPr lang="pl-PL" dirty="0"/>
              <a:t> i </a:t>
            </a:r>
            <a:r>
              <a:rPr lang="pl-PL" dirty="0" err="1"/>
              <a:t>up-selling</a:t>
            </a:r>
            <a:r>
              <a:rPr lang="pl-PL" dirty="0"/>
              <a:t>.</a:t>
            </a:r>
          </a:p>
          <a:p>
            <a:pPr lvl="1"/>
            <a:r>
              <a:rPr lang="pl-PL" b="1" dirty="0"/>
              <a:t>Przykład:</a:t>
            </a:r>
            <a:r>
              <a:rPr lang="pl-PL" dirty="0"/>
              <a:t> podobne do </a:t>
            </a:r>
            <a:r>
              <a:rPr lang="pl-PL" dirty="0" err="1"/>
              <a:t>Netflixa</a:t>
            </a:r>
            <a:r>
              <a:rPr lang="pl-PL" dirty="0"/>
              <a:t> czy </a:t>
            </a:r>
            <a:r>
              <a:rPr lang="pl-PL" dirty="0" err="1"/>
              <a:t>Amazona</a:t>
            </a:r>
            <a:r>
              <a:rPr lang="pl-PL" dirty="0"/>
              <a:t> – SQL Server przechowuje dane transakcyjne, AI wylicza "klienci kupujący A, często kupują B".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21164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9BC39-C47D-D013-CBEE-8B037857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F71E93-C75D-C963-5F69-D09209F2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scenariusze biznesowe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7ABE75B-2947-851F-5517-C1D50C759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b="1" dirty="0"/>
              <a:t>Jak to działa w praktyce z SQL Server?</a:t>
            </a:r>
          </a:p>
          <a:p>
            <a:pPr lvl="1"/>
            <a:r>
              <a:rPr lang="pl-PL" b="1" dirty="0"/>
              <a:t>SQL Server Machine Learning Services</a:t>
            </a:r>
            <a:r>
              <a:rPr lang="pl-PL" dirty="0"/>
              <a:t> – integracja z </a:t>
            </a:r>
            <a:r>
              <a:rPr lang="pl-PL" b="1" dirty="0" err="1"/>
              <a:t>Python</a:t>
            </a:r>
            <a:r>
              <a:rPr lang="pl-PL" dirty="0"/>
              <a:t> / </a:t>
            </a:r>
            <a:r>
              <a:rPr lang="pl-PL" b="1" dirty="0"/>
              <a:t>R</a:t>
            </a:r>
            <a:r>
              <a:rPr lang="pl-PL" dirty="0"/>
              <a:t> (wbudowane modele ML).</a:t>
            </a:r>
          </a:p>
          <a:p>
            <a:pPr lvl="1"/>
            <a:r>
              <a:rPr lang="pl-PL" b="1" dirty="0"/>
              <a:t>Integracja z </a:t>
            </a:r>
            <a:r>
              <a:rPr lang="pl-PL" b="1" dirty="0" err="1"/>
              <a:t>Azure</a:t>
            </a:r>
            <a:r>
              <a:rPr lang="pl-PL" b="1" dirty="0"/>
              <a:t> AI</a:t>
            </a:r>
            <a:r>
              <a:rPr lang="pl-PL" dirty="0"/>
              <a:t> – trenowanie w chmurze, wyniki trzymane w bazie.</a:t>
            </a:r>
          </a:p>
          <a:p>
            <a:pPr lvl="1"/>
            <a:r>
              <a:rPr lang="pl-PL" b="1" dirty="0"/>
              <a:t>Procedury składowane ze skryptami ML</a:t>
            </a:r>
            <a:r>
              <a:rPr lang="pl-PL" dirty="0"/>
              <a:t> – modele mogą być uruchamiane bezpośrednio w SQL Server.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8059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1221BE0E-AF2B-1B39-4F14-FF0FECCF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Machine Learning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C9A9FB7-A403-92E8-6EDD-1FDDEB2ED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Podstawowe algorytmy</a:t>
            </a:r>
          </a:p>
        </p:txBody>
      </p:sp>
    </p:spTree>
    <p:extLst>
      <p:ext uri="{BB962C8B-B14F-4D97-AF65-F5344CB8AC3E}">
        <p14:creationId xmlns:p14="http://schemas.microsoft.com/office/powerpoint/2010/main" val="2412258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F7E67-0601-AC1E-E8EF-B541D62E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511D1E-B8B8-9D91-C00D-40A3DE71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Regresja liniowa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C78ECF-571E-6F3E-68AB-4A7667F3C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Regresja liniowa to podstawowa metoda statystyczna używana do modelowania związku między dwiema zmiennymi: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Zmienna zależna (Y)</a:t>
            </a:r>
            <a:r>
              <a:rPr lang="pl-PL" dirty="0"/>
              <a:t>: To jest to, co próbujemy przewidzieć lub wyjaśnić.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Zmienna niezależna (X)</a:t>
            </a:r>
            <a:r>
              <a:rPr lang="pl-PL" dirty="0"/>
              <a:t>: To jest zmienna, której używamy do przewidywania zmiennej zależnej.</a:t>
            </a:r>
          </a:p>
          <a:p>
            <a:pPr marL="502920" lvl="1" indent="0">
              <a:lnSpc>
                <a:spcPct val="150000"/>
              </a:lnSpc>
              <a:buNone/>
            </a:pPr>
            <a:endParaRPr lang="pl-PL" dirty="0"/>
          </a:p>
          <a:p>
            <a:pPr>
              <a:lnSpc>
                <a:spcPct val="100000"/>
              </a:lnSpc>
            </a:pPr>
            <a:r>
              <a:rPr lang="pl-PL" sz="1200" b="1" dirty="0"/>
              <a:t>Y</a:t>
            </a:r>
            <a:r>
              <a:rPr lang="pl-PL" sz="1200" dirty="0"/>
              <a:t> to przewidywana wartość zmiennej zależnej.</a:t>
            </a:r>
          </a:p>
          <a:p>
            <a:pPr>
              <a:lnSpc>
                <a:spcPct val="100000"/>
              </a:lnSpc>
            </a:pPr>
            <a:r>
              <a:rPr lang="pl-PL" sz="1200" b="1" dirty="0"/>
              <a:t>X </a:t>
            </a:r>
            <a:r>
              <a:rPr lang="pl-PL" sz="1200" dirty="0"/>
              <a:t>to wartość zmiennej niezależnej.</a:t>
            </a:r>
          </a:p>
          <a:p>
            <a:pPr>
              <a:lnSpc>
                <a:spcPct val="100000"/>
              </a:lnSpc>
            </a:pPr>
            <a:r>
              <a:rPr lang="pl-PL" sz="1200" b="1" dirty="0"/>
              <a:t>a</a:t>
            </a:r>
            <a:r>
              <a:rPr lang="pl-PL" sz="1200" dirty="0"/>
              <a:t> to współczynnik nachylenia (</a:t>
            </a:r>
            <a:r>
              <a:rPr lang="pl-PL" sz="1200" dirty="0" err="1"/>
              <a:t>slope</a:t>
            </a:r>
            <a:r>
              <a:rPr lang="pl-PL" sz="1200" dirty="0"/>
              <a:t>) linii, który mówi nam, o ile zmienia się Y, gdy X zmienia się o jedną jednostkę.</a:t>
            </a:r>
          </a:p>
          <a:p>
            <a:pPr>
              <a:lnSpc>
                <a:spcPct val="100000"/>
              </a:lnSpc>
            </a:pPr>
            <a:r>
              <a:rPr lang="pl-PL" sz="1200" b="1" dirty="0"/>
              <a:t>b</a:t>
            </a:r>
            <a:r>
              <a:rPr lang="pl-PL" sz="1200" dirty="0"/>
              <a:t> to punkt przecięcia z osią Y (</a:t>
            </a:r>
            <a:r>
              <a:rPr lang="pl-PL" sz="1200" dirty="0" err="1"/>
              <a:t>intercept</a:t>
            </a:r>
            <a:r>
              <a:rPr lang="pl-PL" sz="1200" dirty="0"/>
              <a:t>), czyli wartość Y, gdy X wynosi 0.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91612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A2EAB-CA70-1C3A-229F-C63874BC4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F4CE485-1B69-C42E-4EB6-582173AA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Regresja liniowa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A58E63-9912-3E1B-AC73-77B71FEC8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Główna idea regresji liniowej polega na znalezieniu prostej linii (zwanej linią regresji), która najlepiej pasuje do punktów danych. Ta linia pozwala nam przewidzieć wartość Y dla danej wartości X.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33650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6878C-E607-3A7C-5DA5-FB71E9A8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48A98A-505A-3FCB-F827-08067F761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Regresja liniowa</a:t>
            </a:r>
            <a:br>
              <a:rPr lang="pl-PL" dirty="0"/>
            </a:br>
            <a:r>
              <a:rPr lang="pl-PL" dirty="0"/>
              <a:t>-</a:t>
            </a:r>
            <a:br>
              <a:rPr lang="pl-PL" dirty="0"/>
            </a:br>
            <a:r>
              <a:rPr lang="pl-PL" dirty="0"/>
              <a:t>przykład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2287B93-6E31-8FE6-311E-8026E42BD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2530257"/>
          </a:xfrm>
        </p:spPr>
        <p:txBody>
          <a:bodyPr/>
          <a:lstStyle/>
          <a:p>
            <a:r>
              <a:rPr lang="pl-PL" dirty="0"/>
              <a:t>Wyobraź sobie, że jesteś właścicielem lodziarni i chcesz sprawdzić, czy temperatura na zewnątrz wpływa na liczbę sprzedanych lodów.</a:t>
            </a:r>
          </a:p>
          <a:p>
            <a:pPr lvl="1"/>
            <a:r>
              <a:rPr lang="pl-PL" b="1" dirty="0"/>
              <a:t>Zmienna niezależna (X)</a:t>
            </a:r>
            <a:r>
              <a:rPr lang="pl-PL" dirty="0"/>
              <a:t>: Temperatura w stopniach Celsjusza.</a:t>
            </a:r>
          </a:p>
          <a:p>
            <a:pPr lvl="1"/>
            <a:r>
              <a:rPr lang="pl-PL" b="1" dirty="0"/>
              <a:t>Zmienna zależna (Y)</a:t>
            </a:r>
            <a:r>
              <a:rPr lang="pl-PL" dirty="0"/>
              <a:t>: Liczba sprzedanych lodów.</a:t>
            </a:r>
          </a:p>
          <a:p>
            <a:endParaRPr lang="pl-PL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3F7BAE9-0732-EAE3-664C-8A2B7470C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8672"/>
              </p:ext>
            </p:extLst>
          </p:nvPr>
        </p:nvGraphicFramePr>
        <p:xfrm>
          <a:off x="4981842" y="3024139"/>
          <a:ext cx="465974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9873">
                  <a:extLst>
                    <a:ext uri="{9D8B030D-6E8A-4147-A177-3AD203B41FA5}">
                      <a16:colId xmlns:a16="http://schemas.microsoft.com/office/drawing/2014/main" val="1469876307"/>
                    </a:ext>
                  </a:extLst>
                </a:gridCol>
                <a:gridCol w="2329873">
                  <a:extLst>
                    <a:ext uri="{9D8B030D-6E8A-4147-A177-3AD203B41FA5}">
                      <a16:colId xmlns:a16="http://schemas.microsoft.com/office/drawing/2014/main" val="3922861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dirty="0">
                          <a:effectLst/>
                        </a:rPr>
                        <a:t>Temperatura 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>
                          <a:effectLst/>
                        </a:rPr>
                        <a:t>Sprzedane lody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6349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219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09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64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6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512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797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1E90-1E1F-8976-A1FE-FA913BF0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32E107-F6B8-A68F-4C6E-41D63125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Drzewa decyzyjne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D7A0614-B553-3F80-10D4-00F084CC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Drzewa decyzyjne to rodzaj algorytmu uczenia maszynowego, który jest używany zarówno do zadań klasyfikacji, jak i regresji. </a:t>
            </a:r>
          </a:p>
          <a:p>
            <a:pPr>
              <a:lnSpc>
                <a:spcPct val="150000"/>
              </a:lnSpc>
            </a:pPr>
            <a:r>
              <a:rPr lang="pl-PL" dirty="0"/>
              <a:t>Można je sobie wyobrazić jako schemat blokowy, gdzie każda wewnętrzna gałąź reprezentuje "test" na atrybucie (np. czy pogoda jest słoneczna?), każda gałąź reprezentuje wynik tego testu, a każdy liść (końcowy węzeł) reprezentuje decyzję lub przewidywaną wartość.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82633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C348-7D59-2E24-2143-E9BF46F5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6D6B49-6C71-9AA1-16AD-AD53CA71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Drzewa decyzyjne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40BFF0-E80F-9349-923B-659542200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Jak to działa?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Węzeł główny (Root </a:t>
            </a:r>
            <a:r>
              <a:rPr lang="pl-PL" b="1" dirty="0" err="1"/>
              <a:t>Node</a:t>
            </a:r>
            <a:r>
              <a:rPr lang="pl-PL" b="1" dirty="0"/>
              <a:t>):</a:t>
            </a:r>
            <a:r>
              <a:rPr lang="pl-PL" dirty="0"/>
              <a:t> To jest punkt początkowy drzewa, reprezentujący całą próbkę danych.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Węzły decyzyjne (</a:t>
            </a:r>
            <a:r>
              <a:rPr lang="pl-PL" b="1" dirty="0" err="1"/>
              <a:t>Decision</a:t>
            </a:r>
            <a:r>
              <a:rPr lang="pl-PL" b="1" dirty="0"/>
              <a:t> </a:t>
            </a:r>
            <a:r>
              <a:rPr lang="pl-PL" b="1" dirty="0" err="1"/>
              <a:t>Nodes</a:t>
            </a:r>
            <a:r>
              <a:rPr lang="pl-PL" b="1" dirty="0"/>
              <a:t>):</a:t>
            </a:r>
            <a:r>
              <a:rPr lang="pl-PL" dirty="0"/>
              <a:t> Węzły te reprezentują testy na atrybutach. Na podstawie wyniku testu dane są dzielone na podzbiory.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Gałęzie (</a:t>
            </a:r>
            <a:r>
              <a:rPr lang="pl-PL" b="1" dirty="0" err="1"/>
              <a:t>Branches</a:t>
            </a:r>
            <a:r>
              <a:rPr lang="pl-PL" b="1" dirty="0"/>
              <a:t>):</a:t>
            </a:r>
            <a:r>
              <a:rPr lang="pl-PL" dirty="0"/>
              <a:t> Gałęzie reprezentują możliwe wyniki testów z węzłów decyzyjnych.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Węzły liściowe (</a:t>
            </a:r>
            <a:r>
              <a:rPr lang="pl-PL" b="1" dirty="0" err="1"/>
              <a:t>Leaf</a:t>
            </a:r>
            <a:r>
              <a:rPr lang="pl-PL" b="1" dirty="0"/>
              <a:t> </a:t>
            </a:r>
            <a:r>
              <a:rPr lang="pl-PL" b="1" dirty="0" err="1"/>
              <a:t>Nodes</a:t>
            </a:r>
            <a:r>
              <a:rPr lang="pl-PL" b="1" dirty="0"/>
              <a:t>):</a:t>
            </a:r>
            <a:r>
              <a:rPr lang="pl-PL" dirty="0"/>
              <a:t> To są końcowe węzły drzewa, które nie dzielą się dalej. Reprezentują one ostateczną decyzję lub przewidywaną klasę/wartość.</a:t>
            </a:r>
          </a:p>
          <a:p>
            <a:pPr>
              <a:lnSpc>
                <a:spcPct val="150000"/>
              </a:lnSpc>
            </a:pPr>
            <a:r>
              <a:rPr lang="pl-PL" dirty="0"/>
              <a:t>Algorytm buduje drzewo, rekurencyjnie dzieląc dane na podzbiory na podstawie atrybutów, które najlepiej rozdzielają dane. Celem jest stworzenie drzewa, które jest w stanie dokładnie przewidzieć wynik dla nowych danych.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39404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AFF4-F802-8C0C-A5B3-E509C07E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9C76CC-8A1C-2A33-C3DC-0AE81714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Drzewa decyzyjne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CF4FE2-FED5-780C-05CD-D92E94A21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2128475"/>
          </a:xfrm>
        </p:spPr>
        <p:txBody>
          <a:bodyPr>
            <a:normAutofit/>
          </a:bodyPr>
          <a:lstStyle/>
          <a:p>
            <a:r>
              <a:rPr lang="pl-PL" b="1" dirty="0"/>
              <a:t>Decyzja o grze w tenisa</a:t>
            </a:r>
          </a:p>
          <a:p>
            <a:r>
              <a:rPr lang="pl-PL" dirty="0"/>
              <a:t>Wyobraź sobie, że chcesz zdecydować, czy zagrać w tenisa, biorąc pod uwagę pogodę. Oto jak mogłoby wyglądać drzewo decyzyjne:</a:t>
            </a:r>
          </a:p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9219475-5ABB-E353-8EFF-09E20BC6A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423" y="2588063"/>
            <a:ext cx="2198972" cy="2171757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4EF020F7-799C-4BE9-146C-E75776984C76}"/>
              </a:ext>
            </a:extLst>
          </p:cNvPr>
          <p:cNvSpPr txBox="1"/>
          <p:nvPr/>
        </p:nvSpPr>
        <p:spPr>
          <a:xfrm>
            <a:off x="3886200" y="4759820"/>
            <a:ext cx="61006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Węzeł główny: 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"Pogoda?„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Węzły decyzyjne: 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"Pogoda?" i "Wilgotność?„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Gałęzie: 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"Słonecznie", "</a:t>
            </a:r>
            <a:r>
              <a:rPr lang="pl-PL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Pochmurno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", "Wysoka", "Normalna„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Węzły liściowe: </a:t>
            </a:r>
            <a:r>
              <a:rPr lang="pl-PL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"GRAJ!" i "NIE GRAJ!"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23EB874-457D-CBEF-9B8E-F8EB4FF3CFC4}"/>
              </a:ext>
            </a:extLst>
          </p:cNvPr>
          <p:cNvSpPr txBox="1"/>
          <p:nvPr/>
        </p:nvSpPr>
        <p:spPr>
          <a:xfrm>
            <a:off x="5414818" y="5858225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i="1" dirty="0"/>
              <a:t>Warsztat – </a:t>
            </a:r>
            <a:r>
              <a:rPr lang="pl-PL" i="1" dirty="0" err="1"/>
              <a:t>python</a:t>
            </a:r>
            <a:r>
              <a:rPr lang="pl-PL" i="1" dirty="0"/>
              <a:t> -&gt; </a:t>
            </a:r>
            <a:r>
              <a:rPr lang="pl-PL" i="1" dirty="0" err="1"/>
              <a:t>CzyZagramyWTenisa</a:t>
            </a:r>
            <a:endParaRPr lang="pl-PL" i="1" dirty="0"/>
          </a:p>
        </p:txBody>
      </p:sp>
    </p:spTree>
    <p:extLst>
      <p:ext uri="{BB962C8B-B14F-4D97-AF65-F5344CB8AC3E}">
        <p14:creationId xmlns:p14="http://schemas.microsoft.com/office/powerpoint/2010/main" val="3417806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1BDA-5FD9-611A-241B-8EBC839A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F8A283-668F-EB9B-CB7E-1CF8E13D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Klasyfikacja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855938-6427-7E70-4BEE-6F65FF20E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Klasyfikacja</a:t>
            </a:r>
            <a:r>
              <a:rPr lang="pl-PL" dirty="0"/>
              <a:t> to metoda uczenia maszynowego, która służy do przypisywania danych do jednej z wcześniej zdefiniowanych </a:t>
            </a:r>
            <a:r>
              <a:rPr lang="pl-PL" b="1" dirty="0"/>
              <a:t>klas</a:t>
            </a:r>
            <a:r>
              <a:rPr lang="pl-PL" dirty="0"/>
              <a:t>. </a:t>
            </a:r>
          </a:p>
          <a:p>
            <a:pPr>
              <a:lnSpc>
                <a:spcPct val="150000"/>
              </a:lnSpc>
            </a:pPr>
            <a:r>
              <a:rPr lang="pl-PL" dirty="0"/>
              <a:t>Model uczony jest na danych, które zawierają zarówno cechy wejściowe, jak i przypisane im etykiety (np. "spam" lub "nie spam"). Na podstawie tej wiedzy potrafi potem przypisać nowy, nieznany przykład do odpowiedniej kategorii.</a:t>
            </a:r>
          </a:p>
        </p:txBody>
      </p:sp>
    </p:spTree>
    <p:extLst>
      <p:ext uri="{BB962C8B-B14F-4D97-AF65-F5344CB8AC3E}">
        <p14:creationId xmlns:p14="http://schemas.microsoft.com/office/powerpoint/2010/main" val="2488405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B1F10-9438-C6C1-9463-018C419C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5BB453-2290-B793-0934-7F705544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Klasyfikacja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B5A9B5-E8D4-3486-3127-0CA05DA4E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Przykład codzienny: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Wyobraź sobie, że chcesz stworzyć program, który na podstawie treści maila automatycznie rozpozna, czy jest to spam (niechciana reklama) czy mail ważny.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Dane treningowe to przykładowe maile z oznaczeniem "spam" lub "nie spam". Model uczy się wzorców powtarzających się w spamie (np. słowa „darmowy”, „wygrana”) i na ich podstawie klasyfikuje nowe maile.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3C6A299-6ACF-D018-4916-4AC7B85D4C51}"/>
              </a:ext>
            </a:extLst>
          </p:cNvPr>
          <p:cNvSpPr txBox="1"/>
          <p:nvPr/>
        </p:nvSpPr>
        <p:spPr>
          <a:xfrm>
            <a:off x="4916054" y="5615415"/>
            <a:ext cx="6100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i="1" dirty="0"/>
              <a:t>Warsztat – </a:t>
            </a:r>
            <a:r>
              <a:rPr lang="pl-PL" i="1" dirty="0" err="1"/>
              <a:t>python</a:t>
            </a:r>
            <a:r>
              <a:rPr lang="pl-PL" i="1" dirty="0"/>
              <a:t> -&gt; </a:t>
            </a:r>
            <a:r>
              <a:rPr lang="pl-PL" i="1" dirty="0" err="1"/>
              <a:t>RozpoznawanieSpamu</a:t>
            </a:r>
            <a:r>
              <a:rPr lang="pl-PL" i="1"/>
              <a:t>, </a:t>
            </a:r>
            <a:endParaRPr lang="pl-PL" i="1" dirty="0"/>
          </a:p>
        </p:txBody>
      </p:sp>
    </p:spTree>
    <p:extLst>
      <p:ext uri="{BB962C8B-B14F-4D97-AF65-F5344CB8AC3E}">
        <p14:creationId xmlns:p14="http://schemas.microsoft.com/office/powerpoint/2010/main" val="4145374342"/>
      </p:ext>
    </p:extLst>
  </p:cSld>
  <p:clrMapOvr>
    <a:masterClrMapping/>
  </p:clrMapOvr>
</p:sld>
</file>

<file path=ppt/theme/theme1.xml><?xml version="1.0" encoding="utf-8"?>
<a:theme xmlns:a="http://schemas.openxmlformats.org/drawingml/2006/main" name="Ramka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TM03457475[[fn=Ramka]]</Template>
  <TotalTime>3381</TotalTime>
  <Words>1215</Words>
  <Application>Microsoft Office PowerPoint</Application>
  <PresentationFormat>Panoramiczny</PresentationFormat>
  <Paragraphs>101</Paragraphs>
  <Slides>19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3" baseType="lpstr">
      <vt:lpstr>Arial</vt:lpstr>
      <vt:lpstr>Corbel</vt:lpstr>
      <vt:lpstr>Wingdings 2</vt:lpstr>
      <vt:lpstr>Ramka</vt:lpstr>
      <vt:lpstr>AI w SQL Server</vt:lpstr>
      <vt:lpstr>AI vs Uczenie Maszynowe</vt:lpstr>
      <vt:lpstr>AI vs Uczenie Maszynowe</vt:lpstr>
      <vt:lpstr>AI vs Uczenie Maszynowe</vt:lpstr>
      <vt:lpstr>AI vs Uczenie Maszynowe</vt:lpstr>
      <vt:lpstr>Przykładowe scenariusze biznesowe</vt:lpstr>
      <vt:lpstr>Przykładowe scenariusze biznesowe</vt:lpstr>
      <vt:lpstr>Przykładowe scenariusze biznesowe</vt:lpstr>
      <vt:lpstr>Przykładowe scenariusze biznesowe</vt:lpstr>
      <vt:lpstr>Przykładowe scenariusze biznesowe</vt:lpstr>
      <vt:lpstr>Machine Learning</vt:lpstr>
      <vt:lpstr>Regresja liniowa</vt:lpstr>
      <vt:lpstr>Regresja liniowa</vt:lpstr>
      <vt:lpstr>Regresja liniowa - przykład</vt:lpstr>
      <vt:lpstr>Drzewa decyzyjne</vt:lpstr>
      <vt:lpstr>Drzewa decyzyjne</vt:lpstr>
      <vt:lpstr>Drzewa decyzyjne</vt:lpstr>
      <vt:lpstr>Klasyfikacja</vt:lpstr>
      <vt:lpstr>Klasyfikacja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 SQL Server - wstęp</dc:title>
  <dc:creator>Przemyslaw Starosta</dc:creator>
  <cp:lastModifiedBy>Przemyslaw Starosta</cp:lastModifiedBy>
  <cp:revision>1</cp:revision>
  <dcterms:created xsi:type="dcterms:W3CDTF">2022-01-27T16:58:23Z</dcterms:created>
  <dcterms:modified xsi:type="dcterms:W3CDTF">2026-10-26T07:51:56Z</dcterms:modified>
</cp:coreProperties>
</file>